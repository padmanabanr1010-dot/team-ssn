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HACKHERE HACKATHON PITCH DECK</a:t>
            </a:r>
          </a:p>
          <a:p>
            <a:pPr>
              <a:defRPr sz="4400" b="1">
                <a:solidFill>
                  <a:srgbClr val="F8FAFC"/>
                </a:solidFill>
              </a:defRPr>
            </a:pPr>
            <a:r>
              <a:t>QUANTUM</a:t>
            </a:r>
          </a:p>
          <a:p>
            <a:pPr>
              <a:spcAft>
                <a:spcPts val="1400"/>
              </a:spcAft>
              <a:defRPr sz="2000">
                <a:solidFill>
                  <a:srgbClr val="10B981"/>
                </a:solidFill>
              </a:defRPr>
            </a:pPr>
            <a:r>
              <a:t>Quantitative Multi-Asset Financial Intelligence &amp; Backtesting Platform</a:t>
            </a:r>
          </a:p>
          <a:p>
            <a:pPr>
              <a:spcAft>
                <a:spcPts val="1400"/>
              </a:spcAft>
              <a:defRPr sz="1200">
                <a:solidFill>
                  <a:srgbClr val="94A3B8"/>
                </a:solidFill>
              </a:defRPr>
            </a:pPr>
            <a:r>
              <a:t>An institutional-grade ecosystem unifying Multi-Asset Financial Data Engineering, Vectorized Indicators, Cross-Asset Correlation, Realistic Zero Look-Ahead Backtesting, and AI Research Copilots.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💎 Gold (GC=F)  •  ₿ Bitcoin (BTC-USD)  •  ⚡ NVIDIA (NVDA)  •  📈 S&amp;P 500 (SPY)  •  🤖 Featherless AI (Mistral-7B) &amp; XGBoost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SYSTEM ARCHITECTURE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Quantitative &amp; Execution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96596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6B6D4"/>
                </a:solidFill>
              </a:defRPr>
            </a:pPr>
            <a:r>
              <a:t>STEP 1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Data Ingestion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Collects live market data (yfinance) for Gold, BTC, NVDA, SPY with local caching &amp; deterministic fallback for 100% demo resilience.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3520440"/>
            <a:ext cx="27432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71800" y="1463040"/>
            <a:ext cx="196596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55448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366F1"/>
                </a:solidFill>
              </a:defRPr>
            </a:pPr>
            <a:r>
              <a:t>STEP 2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Factor Engine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Vectorized computation of SMA (20/50/200), EMA (12/26), daily returns, rolling volatility, Sharpe, and maximum drawdown.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83480" y="3520440"/>
            <a:ext cx="274320" cy="27432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12080" y="1463040"/>
            <a:ext cx="196596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55448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</a:defRPr>
            </a:pPr>
            <a:r>
              <a:t>STEP 3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Correlation &amp; Regimes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Generates Pearson/Spearman matrix, dynamic rolling pair correlation, and Bull/Bear &amp; High/Low Volatility regime classification.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23759" y="3520440"/>
            <a:ext cx="274320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52360" y="1463040"/>
            <a:ext cx="196596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55448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B981"/>
                </a:solidFill>
              </a:defRPr>
            </a:pPr>
            <a:r>
              <a:t>STEP 4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Discrete Backtester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Simulates discrete trade executions with capital tracking, position sizing, fees (0-50 bps), and strict 1-bar delay (zero lookahead bias).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464040" y="3520440"/>
            <a:ext cx="27432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92640" y="1463040"/>
            <a:ext cx="196596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55448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43F5E"/>
                </a:solidFill>
              </a:defRPr>
            </a:pPr>
            <a:r>
              <a:t>STEP 5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AI &amp; Risk Audit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XGBoost directional forecasting, GMM regime clustering, 500-path Monte Carlo bootstrap, and Featherless AI Copilot synthesis.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EVALUATION FOCUS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Multi-Asset Market Data Processing &amp; Normalization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7548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Core Capabilities &amp; Normalization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Universal Asset Classes: Commodities (Gold GC=F), Cryptocurrencies (Bitcoin BTC-USD), and Equities (NVIDIA NVDA &amp; S&amp;P 500 SPY).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Normalized Trajectory (Base = 100): Indexes all assets to 100 on day 0, allowing direct visual comparison across radically different price ranges.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Interactive Asset Cards: Instant display of Current Price, Period Return, Annualized Sharpe Ratio, and Maximum Drawdown.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One-Click 'Analyze' Action: Clicking any asset card automatically cascades that asset across the entire platform.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Dynamic Header Ticker: Top ticker updates in real time with price, Sharpe, and volatility.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463040"/>
            <a:ext cx="576072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📸 LIVE APP VISUAL: EXECUTIVE OVERVIEW &amp; NORMALIZED CHART</a:t>
            </a:r>
          </a:p>
        </p:txBody>
      </p:sp>
      <p:pic>
        <p:nvPicPr>
          <p:cNvPr id="9" name="Picture 8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920240"/>
            <a:ext cx="539495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EVALUATION FOCUS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Quantitative Technical Indicator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7548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366F1"/>
                </a:solidFill>
              </a:defRPr>
            </a:pPr>
            <a:r>
              <a:t>Mathematical Formulations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Trend Overlays: Interactive toggles for Simple Moving Averages (SMA 20, 50, 200) and Exponential Moving Averages (EMA 12, 26).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Sharpe Ratio: Excess annualized return over 4% risk-free hurdle divided by annualized volatility: (μ - rf) / σ * sqrt(252).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Sortino &amp; Calmar: Downside risk penalty and CAGR relative to maximum drawdown.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30-Day Rolling Analytics: Continuous rolling Sharpe ratio and rolling volatility.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Continuous Underwater Drawdown: Peak-to-trough equity drop series tracking capital preservation.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463040"/>
            <a:ext cx="576072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📸 LIVE APP VISUAL: TECHNICAL INDICATORS &amp; MOVING AVERAGES (NVDA)</a:t>
            </a:r>
          </a:p>
        </p:txBody>
      </p:sp>
      <p:pic>
        <p:nvPicPr>
          <p:cNvPr id="9" name="Picture 8" descr="indic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920240"/>
            <a:ext cx="539495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EVALUATION FOCUS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Cross-Asset Correlation Analysis &amp; Decoupling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7548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Heatmap &amp; Rolling Correlation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Cross-Asset Heatmap Matrix: Color-coded from deep rose (-1.0) to bright cyan (+1.0) across Gold, Bitcoin, NVIDIA, and SPY.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Methodology Switcher: Instant one-click toggle between Pearson (Linear) and Spearman (Rank) correlation.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Interactive Cell Linking: Clicking any matrix cell immediately loads that specific asset pair in the rolling correlation explorer below!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Dynamic Rolling Correlation: Customizable rolling windows (15, 30, 60, 90 days) with zero-baseline reference to detect safe-haven decoupling.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Automated Decoupling Insights: Highlights portfolio diversification benefits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463040"/>
            <a:ext cx="576072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📸 LIVE APP VISUAL: INTERACTIVE CORRELATION MATRIX &amp; HEATMAP</a:t>
            </a:r>
          </a:p>
        </p:txBody>
      </p:sp>
      <p:pic>
        <p:nvPicPr>
          <p:cNvPr id="9" name="Picture 8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920240"/>
            <a:ext cx="539495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REALISTIC EXECUTION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Strategy Backtesting Simulation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6B6D4"/>
                </a:solidFill>
              </a:defRPr>
            </a:pPr>
            <a:r>
              <a:t>STEP 1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Signal Generation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Signal computed strictly at bar close t across SMA Crossover, EMA Trend, Momentum ROC, Mean Reversion, or ML Alpha.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91839" y="3520440"/>
            <a:ext cx="27432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0440" y="1463040"/>
            <a:ext cx="25146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554480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366F1"/>
                </a:solidFill>
              </a:defRPr>
            </a:pPr>
            <a:r>
              <a:t>STEP 2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1-Bar Delay Execution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Trade executes on bar t+1. Strict 1-bar execution delay completely eliminates Look-Ahead Bias common in open-source backtesters.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80759" y="3520440"/>
            <a:ext cx="274320" cy="27432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25146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</a:defRPr>
            </a:pPr>
            <a:r>
              <a:t>STEP 3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Fee &amp; Friction Deductions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Applies slippage and broker commissions (0 to 50 bps slider) to both entry and exit. Tracks cash, shares, and portfolio value.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69680" y="3520440"/>
            <a:ext cx="274320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98280" y="1463040"/>
            <a:ext cx="25146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1554480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B981"/>
                </a:solidFill>
              </a:defRPr>
            </a:pPr>
            <a:r>
              <a:t>STEP 4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Benchmark Attribution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Compares strategy equity head-to-head against Buy-and-Hold benchmark for Return, CAGR, Sharpe, Drawdown, Alpha, and Beta.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EVALUATION FOCUS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Strategy Backtest Dashboard &amp; Trade Ledger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7548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Interactive Dashboard &amp; Ledger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5 Supported Strategies: SMA Crossover, EMA Trend, Momentum Breakout, Bollinger Mean Reversion, and AI/ML Predictive Alpha.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Comparative Scorecard: Total Return %, CAGR %, Sharpe, Max Drawdown %, Alpha (α %), Market Beta (β), Win Rate %, and Profit Factor.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Interactive Chart Views: One-click toggle between Portfolio Equity Curve ($) and Underwater Drawdown (%) vs. Benchmark.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Simulated Trade Ledger: Full chronological ledger with Trade ID, Type (Long), Entry/Exit Dates, Prices, Net PnL ($), and Fees.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Filterable Ledger: Instant filter by All, Winners, and Losers.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463040"/>
            <a:ext cx="576072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📸 LIVE APP VISUAL: BACKTEST EQUITY CURVE VS. BENCHMARK</a:t>
            </a:r>
          </a:p>
        </p:txBody>
      </p:sp>
      <p:pic>
        <p:nvPicPr>
          <p:cNvPr id="9" name="Picture 8" descr="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920240"/>
            <a:ext cx="539495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FUTURE SCOPE: ML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&amp; Machine Learning Alpha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96596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6B6D4"/>
                </a:solidFill>
              </a:defRPr>
            </a:pPr>
            <a:r>
              <a:t>STEP 1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Feature Engineering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Extracts MACD Diff, RSI 14, Distance to SMA 20/50, Bollinger %B, Volatility 15d, and Momentum ROC 5d/10d.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3520440"/>
            <a:ext cx="27432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71800" y="1463040"/>
            <a:ext cx="196596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55448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366F1"/>
                </a:solidFill>
              </a:defRPr>
            </a:pPr>
            <a:r>
              <a:t>STEP 2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Walk-Forward Split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80/20 chronological train/test split. Prevents data leakage and simulates true out-of-sample forward trading.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83480" y="3520440"/>
            <a:ext cx="274320" cy="27432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12080" y="1463040"/>
            <a:ext cx="196596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55448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</a:defRPr>
            </a:pPr>
            <a:r>
              <a:t>STEP 3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Ensemble Classifier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Trains XGBoost Classifier + Random Forest. Computes directional probabilities: P(Bullish) vs P(Bearish).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23759" y="3520440"/>
            <a:ext cx="274320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52360" y="1463040"/>
            <a:ext cx="196596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55448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0B981"/>
                </a:solidFill>
              </a:defRPr>
            </a:pPr>
            <a:r>
              <a:t>STEP 4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Explainable AI (XAI)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Generates dynamic Feature Importance ranking showing which technical factors drive the AI's predictions.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464040" y="3520440"/>
            <a:ext cx="27432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92640" y="1463040"/>
            <a:ext cx="196596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55448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43F5E"/>
                </a:solidFill>
              </a:defRPr>
            </a:pPr>
            <a:r>
              <a:t>STEP 5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Unsupervised Regimes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Gaussian Mixture Models (GMM) cluster market history into Expansion, High-Vol Shock, and Neutral states.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FUTURE SCOPE: AI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Lab &amp; Featherless AI Research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7548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Live AI Capabilities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Supervised ML Directional Forecast: Real-time Next-Period Signal (BULLISH/BEARISH), Model Confidence %, and Test Accuracy.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Explainable AI (XAI): Horizontal bar chart ranking feature importance (MACD Diff, RSI 14, Dist SMA 50).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Unsupervised GMM Regime Clustering: Discovers latent market regimes without arbitrary heuristics.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Featherless AI Quant Copilot: Live Mistral-7B research assistant powered by Featherless AI using the user's API key.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Context-Aware Prompting: Copilot automatically receives real-time asset price, Sharpe ratio, volatility, and ML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463040"/>
            <a:ext cx="576072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📸 LIVE APP VISUAL: AI DIRECTIONAL FORECAST &amp; XAI FEATURE RANKING</a:t>
            </a:r>
          </a:p>
        </p:txBody>
      </p:sp>
      <p:pic>
        <p:nvPicPr>
          <p:cNvPr id="9" name="Picture 8" descr="ai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920240"/>
            <a:ext cx="539495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SUMMARY &amp;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Advanced Risk Modeling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43F5E"/>
                </a:solidFill>
              </a:defRPr>
            </a:pPr>
            <a:r>
              <a:t>Risk Modeling (Monte Carlo &amp; VaR)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500-Path Monte Carlo Bootstrap: Forward simulation across 126, 252, and 504 trading days with 5th to 95th percentile confidence cones.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Value-at-Risk (VaR): Parametric (Normal) and Historical Empirical VaR at 95% and 99% confidence intervals.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Expected Shortfall (CVaR): Quantifies average tail loss severity beyond VaR.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Automated Research Audit Report: Synthesizes institutional rating grades (A to D) with one-click JSON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Conclusion &amp; Live Demonstration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100% HackHere Compliance: Solves all telemetry, data engineering, backtesting, and future scope criteria.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Zero Look-Ahead Bias: Mathematically sound discrete simulation.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Zero Internet Dependency: Local disk caching and deterministic fallback ensures 100% presentation uptime.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Live Dashboard: http://localhost:5173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FastAPI Swagger Docs: http://localhost:8000/docs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• Launcher: start.ps1 / run.bat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